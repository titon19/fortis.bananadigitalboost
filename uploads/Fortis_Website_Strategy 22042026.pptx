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10"/>
  </p:normalViewPr>
  <p:slideViewPr>
    <p:cSldViewPr snapToGrid="0" snapToObjects="1">
      <p:cViewPr>
        <p:scale>
          <a:sx n="123" d="100"/>
          <a:sy n="123" d="100"/>
        </p:scale>
        <p:origin x="9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214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0" y="365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WEBSITE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Excellence,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Digitally.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Brief   •   Align Positioning   •   Proposed Approach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0"/>
          </a:xfrm>
          <a:prstGeom prst="line">
            <a:avLst/>
          </a:prstGeom>
          <a:noFill/>
          <a:ln w="25400">
            <a:solidFill>
              <a:srgbClr val="F2A5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947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Pitching Deck Prepared by Banana Digital Boost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Fortis Prima Solusi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Business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93776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Procurement &amp; Sourcing Services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18470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Menyederhanakan proses sourcing dan procurement melalui jaringan supplier global yang terkurasi.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0487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359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MRO Supply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68680" y="26517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Pemasok Maintenance, Repair &amp; Operating Supplies untuk kebutuhan operasional industri.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09544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3163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Protective Equipment (PPE)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68680" y="34564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PPE berkualitas dari brand terpercaya untuk kebutuhan safety di tempat kerja.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14216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9684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Lease, Sale &amp; Consignment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868680" y="42611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long-term &amp; short-term container lease serta layanan consignment inventory.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5486400" y="1051560"/>
            <a:ext cx="32918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0" y="1554480"/>
            <a:ext cx="3291840" cy="3218688"/>
          </a:xfrm>
          <a:prstGeom prst="rect">
            <a:avLst/>
          </a:prstGeom>
          <a:solidFill>
            <a:srgbClr val="E6ECF5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235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Multinational Corporations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715000" y="193852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scale (SMEs)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scale enterprises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multinational accounts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623560" y="2788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Sectors Served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715000" y="3081528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&amp; Process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Oil, Gas &amp; Energy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Shipping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&amp; Fleet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Industrial Ops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Positioning Framework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Perception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206240" cy="192024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procurement middleman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MRO &amp; PPE supplier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Transactional, order-by-order partner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062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Positioning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4206240" cy="19202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2331720"/>
            <a:ext cx="502920" cy="502920"/>
          </a:xfrm>
          <a:prstGeom prst="chevron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9164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Procurement Partner for Global-Grade Industrial Supply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E6ECF5"/>
          </a:solidFill>
          <a:ln w="19050">
            <a:solidFill>
              <a:srgbClr val="F2A516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14400" y="4114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Fortis Prima Solusi adalah mitra procurement strategis yang menyederhanakan sourcing global, menurunkan total biaya supply chain, dan menjamin kualitas produk industri untuk perusahaan multinasional di Indonesia.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Audit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Telaah website existing — fortisprima.com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18288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" y="1289304"/>
            <a:ext cx="2633472" cy="1719072"/>
          </a:xfrm>
          <a:prstGeom prst="rect">
            <a:avLst/>
          </a:prstGeom>
          <a:solidFill>
            <a:srgbClr val="F1EEE8"/>
          </a:solidFill>
          <a:ln w="12700">
            <a:solidFill>
              <a:srgbClr val="F1E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344168"/>
            <a:ext cx="64008" cy="64008"/>
          </a:xfrm>
          <a:prstGeom prst="lin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44168"/>
            <a:ext cx="64008" cy="64008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44168"/>
            <a:ext cx="64008" cy="64008"/>
          </a:xfrm>
          <a:prstGeom prst="lin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316736"/>
            <a:ext cx="2240280" cy="1280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31673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www.fortisprima.com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420624" y="1490472"/>
            <a:ext cx="2633472" cy="182880"/>
          </a:xfrm>
          <a:prstGeom prst="rect">
            <a:avLst/>
          </a:prstGeom>
          <a:solidFill>
            <a:srgbClr val="1A5490"/>
          </a:solidFill>
          <a:ln w="12700">
            <a:solidFill>
              <a:srgbClr val="1A5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90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PRODUCTS  INDUSTRIES  ABOUT  CONTACT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420624" y="1691640"/>
            <a:ext cx="2633472" cy="960120"/>
          </a:xfrm>
          <a:prstGeom prst="rect">
            <a:avLst/>
          </a:prstGeom>
          <a:solidFill>
            <a:srgbClr val="8B8680"/>
          </a:solidFill>
          <a:ln w="12700">
            <a:solidFill>
              <a:srgbClr val="8B8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28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manage materials supply chains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1031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50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FORTIS PRIMA SINERGI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02920" y="2377440"/>
            <a:ext cx="640080" cy="164592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774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QUOTE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502920" y="2697480"/>
            <a:ext cx="2468880" cy="36576"/>
          </a:xfrm>
          <a:prstGeom prst="rect">
            <a:avLst/>
          </a:prstGeom>
          <a:solidFill>
            <a:srgbClr val="C4CAD6"/>
          </a:solidFill>
          <a:ln w="12700">
            <a:solidFill>
              <a:srgbClr val="C4CA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70632"/>
            <a:ext cx="2286000" cy="36576"/>
          </a:xfrm>
          <a:prstGeom prst="rect">
            <a:avLst/>
          </a:prstGeom>
          <a:solidFill>
            <a:srgbClr val="C4CAD6"/>
          </a:solidFill>
          <a:ln w="12700">
            <a:solidFill>
              <a:srgbClr val="C4CA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843784"/>
            <a:ext cx="2377440" cy="36576"/>
          </a:xfrm>
          <a:prstGeom prst="rect">
            <a:avLst/>
          </a:prstGeom>
          <a:solidFill>
            <a:srgbClr val="C4CAD6"/>
          </a:solidFill>
          <a:ln w="12700">
            <a:solidFill>
              <a:srgbClr val="C4CA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1143000"/>
            <a:ext cx="868680" cy="219456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11430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homepage existing — tidak ter-update sejak 2020.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188720" y="3749040"/>
            <a:ext cx="1097280" cy="0"/>
          </a:xfrm>
          <a:prstGeom prst="line">
            <a:avLst/>
          </a:prstGeom>
          <a:noFill/>
          <a:ln w="25400">
            <a:solidFill>
              <a:srgbClr val="F2A5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86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337560" y="1234440"/>
            <a:ext cx="2743200" cy="1143000"/>
          </a:xfrm>
          <a:prstGeom prst="rect">
            <a:avLst/>
          </a:prstGeom>
          <a:solidFill>
            <a:srgbClr val="FDECEE"/>
          </a:solidFill>
          <a:ln w="9525">
            <a:solidFill>
              <a:srgbClr val="B930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1234440"/>
            <a:ext cx="73152" cy="1143000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1344168"/>
            <a:ext cx="914400" cy="201168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1344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MISMATCH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2628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Entity Name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masih "PT Fortis Prima Sinergi" — tidak selaras dengan entitas baru Solusi.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234440"/>
            <a:ext cx="2743200" cy="1143000"/>
          </a:xfrm>
          <a:prstGeom prst="rect">
            <a:avLst/>
          </a:prstGeom>
          <a:solidFill>
            <a:srgbClr val="FDECEE"/>
          </a:solidFill>
          <a:ln w="9525">
            <a:solidFill>
              <a:srgbClr val="B930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234440"/>
            <a:ext cx="73152" cy="1143000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1344168"/>
            <a:ext cx="914400" cy="201168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344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STALE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406640" y="1325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Kantor Outdated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16002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Centennial Tower + Mangga Dua Square — bukan Cityloft Sudirman yang sekarang.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37560" y="2468880"/>
            <a:ext cx="2743200" cy="1143000"/>
          </a:xfrm>
          <a:prstGeom prst="rect">
            <a:avLst/>
          </a:prstGeom>
          <a:solidFill>
            <a:srgbClr val="FDECEE"/>
          </a:solidFill>
          <a:ln w="9525">
            <a:solidFill>
              <a:srgbClr val="B930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37560" y="2468880"/>
            <a:ext cx="73152" cy="1143000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2578608"/>
            <a:ext cx="914400" cy="201168"/>
          </a:xfrm>
          <a:prstGeom prst="rect">
            <a:avLst/>
          </a:prstGeom>
          <a:solidFill>
            <a:srgbClr val="B9303A"/>
          </a:solidFill>
          <a:ln w="12700">
            <a:solidFill>
              <a:srgbClr val="B930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26280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Stagnan 5 Tahun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2044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footer masih 2020 — sinyal ke prospek bahwa bisnis tidak aktif digital.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2468880"/>
            <a:ext cx="2743200" cy="1143000"/>
          </a:xfrm>
          <a:prstGeom prst="rect">
            <a:avLst/>
          </a:prstGeom>
          <a:solidFill>
            <a:srgbClr val="FEF3E6"/>
          </a:solidFill>
          <a:ln w="9525">
            <a:solidFill>
              <a:srgbClr val="C985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2468880"/>
            <a:ext cx="73152" cy="1143000"/>
          </a:xfrm>
          <a:prstGeom prst="rect">
            <a:avLst/>
          </a:prstGeom>
          <a:solidFill>
            <a:srgbClr val="C98510"/>
          </a:solidFill>
          <a:ln w="12700">
            <a:solidFill>
              <a:srgbClr val="C9851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2578608"/>
            <a:ext cx="914400" cy="201168"/>
          </a:xfrm>
          <a:prstGeom prst="rect">
            <a:avLst/>
          </a:prstGeom>
          <a:solidFill>
            <a:srgbClr val="C98510"/>
          </a:solidFill>
          <a:ln w="12700">
            <a:solidFill>
              <a:srgbClr val="C985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2578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CATALOG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406640" y="2560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Product Listing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28346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5 halaman service naratif — tidak ada katalog, filter, atau inquiry per-item.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337560" y="3703320"/>
            <a:ext cx="2743200" cy="1143000"/>
          </a:xfrm>
          <a:prstGeom prst="rect">
            <a:avLst/>
          </a:prstGeom>
          <a:solidFill>
            <a:srgbClr val="FEF3E6"/>
          </a:solidFill>
          <a:ln w="9525">
            <a:solidFill>
              <a:srgbClr val="C9851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37560" y="3703320"/>
            <a:ext cx="73152" cy="1143000"/>
          </a:xfrm>
          <a:prstGeom prst="rect">
            <a:avLst/>
          </a:prstGeom>
          <a:solidFill>
            <a:srgbClr val="C98510"/>
          </a:solidFill>
          <a:ln w="12700">
            <a:solidFill>
              <a:srgbClr val="C9851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0440" y="3813048"/>
            <a:ext cx="914400" cy="201168"/>
          </a:xfrm>
          <a:prstGeom prst="rect">
            <a:avLst/>
          </a:prstGeom>
          <a:solidFill>
            <a:srgbClr val="C98510"/>
          </a:solidFill>
          <a:ln w="12700">
            <a:solidFill>
              <a:srgbClr val="C985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20440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CTA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52628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Flow Tidak Jelas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520440" y="4069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"Get a Quote" di hero tidak jelas tujuannya — tidak ada form inquiry dedicated.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17920" y="3703320"/>
            <a:ext cx="2743200" cy="1143000"/>
          </a:xfrm>
          <a:prstGeom prst="rect">
            <a:avLst/>
          </a:prstGeom>
          <a:solidFill>
            <a:srgbClr val="FEF3E6"/>
          </a:solidFill>
          <a:ln w="9525">
            <a:solidFill>
              <a:srgbClr val="C9851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17920" y="3703320"/>
            <a:ext cx="73152" cy="1143000"/>
          </a:xfrm>
          <a:prstGeom prst="rect">
            <a:avLst/>
          </a:prstGeom>
          <a:solidFill>
            <a:srgbClr val="C98510"/>
          </a:solidFill>
          <a:ln w="12700">
            <a:solidFill>
              <a:srgbClr val="C9851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00800" y="3813048"/>
            <a:ext cx="914400" cy="201168"/>
          </a:xfrm>
          <a:prstGeom prst="rect">
            <a:avLst/>
          </a:prstGeom>
          <a:solidFill>
            <a:srgbClr val="C98510"/>
          </a:solidFill>
          <a:ln w="12700">
            <a:solidFill>
              <a:srgbClr val="C985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3813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SHOWCASE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40664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Principal Invisible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00800" y="4069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brand premium (SKF, 3M, Honeywell, dll) tidak disebutkan sama sekali di website.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Website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54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 entity: PT Fortis Prima Sinergi → PT Fortis Prima Solusi membutuhkan representasi digital baru yang konsisten.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500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3042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Prospek multinasional melakukan digital due diligence sebelum onboarding vendor baru.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09981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3054096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Persaingan sourcing global semakin ketat — kredibilitas digital menjadi filter pertama.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49624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803904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menampilkan kedalaman katalog (±1.000 item) yang tidak bisa dikomunikasikan via PDF.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jika tidak dilakukan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754880" y="1554480"/>
            <a:ext cx="4023360" cy="3108960"/>
          </a:xfrm>
          <a:prstGeom prst="rect">
            <a:avLst/>
          </a:prstGeom>
          <a:solidFill>
            <a:srgbClr val="FEF3E6"/>
          </a:solidFill>
          <a:ln w="9525">
            <a:solidFill>
              <a:srgbClr val="F2A516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737360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Kehilangan Prospek Korporat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5212080" y="1965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 klien besar beralih ke supplier yang punya representasi digital jelas.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46888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dengan Brand Global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521208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dipercaya sebagai distributor brand premium (SKF, 3M, Honeywell, dll) tanpa website profesional.</a:t>
            </a:r>
            <a:endParaRPr lang="en-US" sz="95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200400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Tidak Terlihat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5212080" y="3429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MRO, PPE, dan Container tetap tersembunyi tanpa kanal yang mudah diakses.</a:t>
            </a:r>
            <a:endParaRPr lang="en-US" sz="9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931920"/>
            <a:ext cx="228600" cy="2286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21208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 Inquiry Rendah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521208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permintaan masuk via email manual — tidak ada funneling dan tracking.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31" name="Text 21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32" name="Text 22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Website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Procurement &amp; Global Supply Look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94560" y="1234440"/>
            <a:ext cx="475488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0" y="1234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Website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2402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2A5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91640"/>
            <a:ext cx="2240280" cy="1051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801368"/>
            <a:ext cx="91440" cy="91440"/>
          </a:xfrm>
          <a:prstGeom prst="lin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801368"/>
            <a:ext cx="91440" cy="91440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801368"/>
            <a:ext cx="91440" cy="91440"/>
          </a:xfrm>
          <a:prstGeom prst="lin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19659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24414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Supply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325880" y="1691640"/>
            <a:ext cx="1280160" cy="219456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25880" y="1691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2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BENCHMARK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2920" y="2816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dijadikan referensi: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48640" y="3026664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portfolio overlap: ANSELL, HONEYWELL, MSA, PETROVA, SAFETY JOGGER.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Dual-filter struktur (Brand × Category) terbukti efektif.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per-produk yang rapi.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02920" y="4096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ke compro: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2920" y="42793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langsung PPE — model katalog &amp; filter siap direplicate.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920" y="45537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https://bas-supply.id/product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2697480" y="1691640"/>
            <a:ext cx="224028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2A51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97480" y="1691640"/>
            <a:ext cx="2240280" cy="10515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07208" y="1801368"/>
            <a:ext cx="91440" cy="91440"/>
          </a:xfrm>
          <a:prstGeom prst="lin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935224" y="1801368"/>
            <a:ext cx="91440" cy="91440"/>
          </a:xfrm>
          <a:prstGeom prst="lin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63240" y="1801368"/>
            <a:ext cx="91440" cy="91440"/>
          </a:xfrm>
          <a:prstGeom prst="lin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965960"/>
            <a:ext cx="457200" cy="4572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2697480" y="24414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Kurnia Safety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657600" y="1691640"/>
            <a:ext cx="1280160" cy="219456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0" y="1691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2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MODEL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2834640" y="28163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dijadikan referensi: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2880360" y="3026664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distributor 10+ brand premium (3M, Honeywell, Ansell, MSA, DuPont, UVEX).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Per-brand landing page ("Distributor 3M Indonesia") sebagai SEO powerhouse.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messaging + kantor cabang multi-kota.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2834640" y="409651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ke compro: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834640" y="427939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positioning Fortis sebagai authorized distributor.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2834640" y="45537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u="sng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https://www.kurniasafety.com/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5166360" y="1691640"/>
            <a:ext cx="361188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166360" y="1691640"/>
            <a:ext cx="1005840" cy="97840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1837944"/>
            <a:ext cx="347472" cy="34747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66360" y="220370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Grainger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6263640" y="174650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MRO ter-mature di dunia — struktur kategori scalable, search &amp; filter powerful.</a:t>
            </a:r>
            <a:endParaRPr lang="en-US" sz="850" dirty="0"/>
          </a:p>
        </p:txBody>
      </p:sp>
      <p:sp>
        <p:nvSpPr>
          <p:cNvPr id="40" name="Text 35"/>
          <p:cNvSpPr/>
          <p:nvPr/>
        </p:nvSpPr>
        <p:spPr>
          <a:xfrm>
            <a:off x="6263640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listing ±1.000 item MRO.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6263640" y="246888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https://www.grainger.com/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5166360" y="2743200"/>
            <a:ext cx="361188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166360" y="2743200"/>
            <a:ext cx="1005840" cy="97840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2889504"/>
            <a:ext cx="347472" cy="34747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166360" y="32552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Online</a:t>
            </a:r>
            <a:endParaRPr lang="en-US" sz="850" dirty="0"/>
          </a:p>
        </p:txBody>
      </p:sp>
      <p:sp>
        <p:nvSpPr>
          <p:cNvPr id="46" name="Text 40"/>
          <p:cNvSpPr/>
          <p:nvPr/>
        </p:nvSpPr>
        <p:spPr>
          <a:xfrm>
            <a:off x="6263640" y="279806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industrial distributor — product detail informatif, quote &amp; inquiry flow rapi.</a:t>
            </a:r>
            <a:endParaRPr lang="en-US" sz="850" dirty="0"/>
          </a:p>
        </p:txBody>
      </p:sp>
      <p:sp>
        <p:nvSpPr>
          <p:cNvPr id="47" name="Text 41"/>
          <p:cNvSpPr/>
          <p:nvPr/>
        </p:nvSpPr>
        <p:spPr>
          <a:xfrm>
            <a:off x="62636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inquiry-per-produk match dengan flow Fortis.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6263640" y="352044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https://id.rs-online.com/</a:t>
            </a:r>
            <a:endParaRPr lang="en-US" sz="750" dirty="0"/>
          </a:p>
        </p:txBody>
      </p:sp>
      <p:sp>
        <p:nvSpPr>
          <p:cNvPr id="49" name="Shape 43"/>
          <p:cNvSpPr/>
          <p:nvPr/>
        </p:nvSpPr>
        <p:spPr>
          <a:xfrm>
            <a:off x="5166360" y="3794760"/>
            <a:ext cx="361188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5166360" y="3794760"/>
            <a:ext cx="1005840" cy="978408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5544" y="3941064"/>
            <a:ext cx="347472" cy="347472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166360" y="430682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Wahana Safety</a:t>
            </a:r>
            <a:endParaRPr lang="en-US" sz="850" dirty="0"/>
          </a:p>
        </p:txBody>
      </p:sp>
      <p:sp>
        <p:nvSpPr>
          <p:cNvPr id="53" name="Text 46"/>
          <p:cNvSpPr/>
          <p:nvPr/>
        </p:nvSpPr>
        <p:spPr>
          <a:xfrm>
            <a:off x="6263640" y="38496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 1999, 5 cabang (Jakarta, Cikarang, Balikpapan, Banjarbaru, Surabaya) — legacy positioning kuat.</a:t>
            </a:r>
            <a:endParaRPr lang="en-US" sz="850" dirty="0"/>
          </a:p>
        </p:txBody>
      </p:sp>
      <p:sp>
        <p:nvSpPr>
          <p:cNvPr id="54" name="Text 47"/>
          <p:cNvSpPr/>
          <p:nvPr/>
        </p:nvSpPr>
        <p:spPr>
          <a:xfrm>
            <a:off x="6263640" y="4297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multi-branch + multi-brand catalog + compliance badges.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6263640" y="45720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u="sng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https://wahanasafety.com/</a:t>
            </a:r>
            <a:endParaRPr lang="en-US" sz="750" dirty="0"/>
          </a:p>
        </p:txBody>
      </p:sp>
      <p:sp>
        <p:nvSpPr>
          <p:cNvPr id="56" name="Shape 49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Structure (Proposed Sitemap)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0" y="1005840"/>
            <a:ext cx="23774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1005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Website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3291840" cy="86868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6916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2900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(BERANDA)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63240" y="19659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identitas Fortis, featured products, dan nilai procurement utama.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0" y="2423160"/>
            <a:ext cx="0" cy="41148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43584" y="2834640"/>
            <a:ext cx="6656832" cy="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43584" y="2834640"/>
            <a:ext cx="0" cy="9144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926080"/>
            <a:ext cx="1572768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1E3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017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" y="34290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36393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(TENTANG KAMI)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48640" y="3867912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perusahaan, visi &amp; misi, dan keunggulan sebagai procurement partner.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907792" y="2834640"/>
            <a:ext cx="0" cy="9144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121408" y="2926080"/>
            <a:ext cx="1572768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1E3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912" y="301752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21408" y="34290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PAGE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2121408" y="36393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(LAYANAN)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2212848" y="3867912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procurement process, MRO, PPE, Container, dan Consignment.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4572000" y="2834640"/>
            <a:ext cx="0" cy="9144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785616" y="2926080"/>
            <a:ext cx="1572768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1E3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01752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85616" y="34290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PAGE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785616" y="36393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(KATALOG)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3877056" y="3867912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±1.000 produk dengan filter, search, dan detail per item.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6236208" y="2834640"/>
            <a:ext cx="0" cy="9144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449824" y="2926080"/>
            <a:ext cx="1572768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1E3F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3328" y="30175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49824" y="34290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</a:t>
            </a: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5449824" y="36393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(MITRA)</a:t>
            </a:r>
            <a:endParaRPr lang="en-US" sz="850" dirty="0"/>
          </a:p>
        </p:txBody>
      </p:sp>
      <p:sp>
        <p:nvSpPr>
          <p:cNvPr id="35" name="Text 28"/>
          <p:cNvSpPr/>
          <p:nvPr/>
        </p:nvSpPr>
        <p:spPr>
          <a:xfrm>
            <a:off x="5541264" y="3867912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800" dirty="0"/>
          </a:p>
        </p:txBody>
      </p:sp>
      <p:sp>
        <p:nvSpPr>
          <p:cNvPr id="36" name="Shape 29"/>
          <p:cNvSpPr/>
          <p:nvPr/>
        </p:nvSpPr>
        <p:spPr>
          <a:xfrm>
            <a:off x="7900416" y="2834640"/>
            <a:ext cx="0" cy="91440"/>
          </a:xfrm>
          <a:prstGeom prst="line">
            <a:avLst/>
          </a:prstGeom>
          <a:noFill/>
          <a:ln w="19050">
            <a:solidFill>
              <a:srgbClr val="F2A51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114032" y="2926080"/>
            <a:ext cx="1572768" cy="1783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B1E3F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7536" y="3017520"/>
            <a:ext cx="365760" cy="36576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114032" y="342900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PAGE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7114032" y="36393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(KONTAK)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7205472" y="3867912"/>
            <a:ext cx="13898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kontak, Google Maps, info perusahaan, dan inquiry channel resmi.</a:t>
            </a:r>
            <a:endParaRPr lang="en-US" sz="800" dirty="0"/>
          </a:p>
        </p:txBody>
      </p:sp>
      <p:sp>
        <p:nvSpPr>
          <p:cNvPr id="42" name="Shape 34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45" name="Text 37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82496"/>
            <a:ext cx="137160" cy="137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Partner untuk Global-Grade Industrial Supply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57984"/>
            <a:ext cx="137160" cy="137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7568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Snapshot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identitas, track record, dan nilai inti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33472"/>
            <a:ext cx="137160" cy="137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511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MRO, PPE, Container Lease &amp; Consignment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108960"/>
            <a:ext cx="137160" cy="137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2666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Products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brand principal &amp; kategori unggulan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84448"/>
            <a:ext cx="137160" cy="137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021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Fortis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differentiator: network, track record, cost optimisation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059936"/>
            <a:ext cx="137160" cy="1371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77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form + WhatsApp direct button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526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harus langsung menunjukkan kredibilitas procurement dan kedalaman katalog produk.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3931920" cy="32004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80160"/>
            <a:ext cx="3749040" cy="3017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solidFill>
            <a:srgbClr val="071530"/>
          </a:solidFill>
          <a:ln w="12700">
            <a:solidFill>
              <a:srgbClr val="0715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307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13441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SERVICES   CATALOG   PARTNERS   CONTACT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8092440" y="1335024"/>
            <a:ext cx="502920" cy="18288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33502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5120640" y="18288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Global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supply, and deliver — one trusted partner.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20640" y="3154680"/>
            <a:ext cx="822960" cy="256032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154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035040" y="3154680"/>
            <a:ext cx="914400" cy="256032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680960" y="1828800"/>
            <a:ext cx="914400" cy="14173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8745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80960" y="217627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550" dirty="0"/>
          </a:p>
        </p:txBody>
      </p:sp>
      <p:sp>
        <p:nvSpPr>
          <p:cNvPr id="35" name="Text 33"/>
          <p:cNvSpPr/>
          <p:nvPr/>
        </p:nvSpPr>
        <p:spPr>
          <a:xfrm>
            <a:off x="768096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80960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4937760" y="3611880"/>
            <a:ext cx="374904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30752"/>
            <a:ext cx="164592" cy="16459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5349240" y="3703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534924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B2B-ready</a:t>
            </a:r>
            <a:endParaRPr lang="en-US" sz="550" dirty="0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30752"/>
            <a:ext cx="164592" cy="164592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492240" y="3703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Brands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649224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B2B-ready</a:t>
            </a:r>
            <a:endParaRPr lang="en-US" sz="55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3730752"/>
            <a:ext cx="164592" cy="16459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7635240" y="3703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Optimised</a:t>
            </a:r>
            <a:endParaRPr lang="en-US" sz="700" dirty="0"/>
          </a:p>
        </p:txBody>
      </p:sp>
      <p:sp>
        <p:nvSpPr>
          <p:cNvPr id="46" name="Text 41"/>
          <p:cNvSpPr/>
          <p:nvPr/>
        </p:nvSpPr>
        <p:spPr>
          <a:xfrm>
            <a:off x="763524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B2B-ready</a:t>
            </a:r>
            <a:endParaRPr lang="en-US" sz="550" dirty="0"/>
          </a:p>
        </p:txBody>
      </p:sp>
      <p:sp>
        <p:nvSpPr>
          <p:cNvPr id="47" name="Text 42"/>
          <p:cNvSpPr/>
          <p:nvPr/>
        </p:nvSpPr>
        <p:spPr>
          <a:xfrm>
            <a:off x="4846320" y="4480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u="sng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MVP Homepage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Brand Direction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&amp; typography diturunkan langsung dari logo Fortis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E"/>
            </a:solidFill>
            <a:prstDash val="solid"/>
          </a:ln>
        </p:spPr>
      </p:sp>
      <p:pic>
        <p:nvPicPr>
          <p:cNvPr id="6" name="Image 0" descr="/home/claude/fortis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54684"/>
            <a:ext cx="2560320" cy="58247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520440" y="1188720"/>
            <a:ext cx="5257800" cy="914400"/>
          </a:xfrm>
          <a:prstGeom prst="rect">
            <a:avLst/>
          </a:prstGeom>
          <a:solidFill>
            <a:srgbClr val="FDECEE"/>
          </a:solidFill>
          <a:ln w="9525">
            <a:solidFill>
              <a:srgbClr val="D92B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11880" y="1280160"/>
            <a:ext cx="5074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b="1" kern="0" spc="150" dirty="0">
                <a:solidFill>
                  <a:srgbClr val="D9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REBRAND  </a:t>
            </a: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Logo existing masih menggunakan tagline </a:t>
            </a:r>
            <a:r>
              <a:rPr lang="en-US" sz="9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"PRIMA SINERGI"</a:t>
            </a: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konfirmasi arah: adaptasi tagline ke </a:t>
            </a:r>
            <a:r>
              <a:rPr lang="en-US" sz="9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"PRIMA SOLUSI"</a:t>
            </a: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redesign logo, atau opsi lain.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 — Derived from Logo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788920"/>
            <a:ext cx="1207008" cy="822960"/>
          </a:xfrm>
          <a:prstGeom prst="rect">
            <a:avLst/>
          </a:prstGeom>
          <a:solidFill>
            <a:srgbClr val="0E3BAA"/>
          </a:solidFill>
          <a:ln w="6350">
            <a:solidFill>
              <a:srgbClr val="C4CA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6576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#0E3BAA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38587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Blue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405079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636776" y="2788920"/>
            <a:ext cx="1207008" cy="822960"/>
          </a:xfrm>
          <a:prstGeom prst="rect">
            <a:avLst/>
          </a:prstGeom>
          <a:solidFill>
            <a:srgbClr val="0A0A0A"/>
          </a:solidFill>
          <a:ln w="6350">
            <a:solidFill>
              <a:srgbClr val="C4CA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36776" y="36576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#0A0A0A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36776" y="38587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Black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636776" y="405079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Text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07792" y="2788920"/>
            <a:ext cx="1207008" cy="82296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6350">
            <a:solidFill>
              <a:srgbClr val="C4CA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07792" y="36576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/>
              <a:t>#f7612a</a:t>
            </a:r>
            <a:endParaRPr lang="en-US" sz="900" b="1" dirty="0"/>
          </a:p>
        </p:txBody>
      </p:sp>
      <p:sp>
        <p:nvSpPr>
          <p:cNvPr id="21" name="Text 18"/>
          <p:cNvSpPr/>
          <p:nvPr/>
        </p:nvSpPr>
        <p:spPr>
          <a:xfrm>
            <a:off x="2907792" y="38587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Accent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907792" y="405079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/ Alert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178808" y="2788920"/>
            <a:ext cx="1207008" cy="822960"/>
          </a:xfrm>
          <a:prstGeom prst="rect">
            <a:avLst/>
          </a:prstGeom>
          <a:solidFill>
            <a:srgbClr val="F7F8FA"/>
          </a:solidFill>
          <a:ln w="6350">
            <a:solidFill>
              <a:srgbClr val="C4CA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78808" y="365760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#F7F8FA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78808" y="3858768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Gray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78808" y="405079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486400" y="2286000"/>
            <a:ext cx="32918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Pairing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0" y="2788920"/>
            <a:ext cx="3291840" cy="1005840"/>
          </a:xfrm>
          <a:prstGeom prst="rect">
            <a:avLst/>
          </a:prstGeom>
          <a:solidFill>
            <a:srgbClr val="0E3BAA"/>
          </a:solidFill>
          <a:ln w="12700">
            <a:solidFill>
              <a:srgbClr val="0E3BA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623560" y="283464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MANROPE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23560" y="30449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900" dirty="0"/>
          </a:p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Procurement.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5486400" y="3840480"/>
            <a:ext cx="3291840" cy="685800"/>
          </a:xfrm>
          <a:prstGeom prst="rect">
            <a:avLst/>
          </a:prstGeom>
          <a:solidFill>
            <a:srgbClr val="F7F8FA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23560" y="38862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80" dirty="0">
                <a:solidFill>
                  <a:srgbClr val="0E3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PLEX SANS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623560" y="406908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untuk catalog 1.000+ item, technical specs, dan body-heavy pages.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65760" y="4297680"/>
            <a:ext cx="5029200" cy="320040"/>
          </a:xfrm>
          <a:prstGeom prst="rect">
            <a:avLst/>
          </a:prstGeom>
          <a:solidFill>
            <a:srgbClr val="E8EEFB"/>
          </a:solidFill>
          <a:ln w="6350">
            <a:solidFill>
              <a:srgbClr val="0E3BA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4315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ini diturunkan langsung dari logo Fortis: </a:t>
            </a: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biru kotak F  </a:t>
            </a:r>
            <a:r>
              <a:rPr lang="en-US" sz="850" b="1" dirty="0">
                <a:solidFill>
                  <a:srgbClr val="0E3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Primary  ·  </a:t>
            </a: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 </a:t>
            </a:r>
            <a:r>
              <a:rPr lang="en-US" sz="8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Body  ·  </a:t>
            </a: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aksen  </a:t>
            </a:r>
            <a:r>
              <a:rPr lang="en-US" sz="850" b="1" dirty="0">
                <a:solidFill>
                  <a:srgbClr val="D9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CTA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9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8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belum memiliki brand guideline formal. Palette di atas adalah proposal BDB berdasarkan logo existing — akan di-finalisasi bersama klien di Phase 2 (UI/UX Design).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Visitor to Deal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sebagai mesin lead generation — bukan sekadar online brochure.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50620" cy="21488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6750" y="1828800"/>
            <a:ext cx="548640" cy="548640"/>
          </a:xfrm>
          <a:prstGeom prst="line">
            <a:avLst/>
          </a:prstGeom>
          <a:solidFill>
            <a:srgbClr val="FFFFFF"/>
          </a:solidFill>
          <a:ln w="19050">
            <a:solidFill>
              <a:srgbClr val="0B1E3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78" y="193852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46888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788920"/>
            <a:ext cx="1059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Prospek landing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homepage atau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552956" y="2308860"/>
            <a:ext cx="228600" cy="274320"/>
          </a:xfrm>
          <a:prstGeom prst="chevron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18132" y="1371600"/>
            <a:ext cx="1150620" cy="21488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18132" y="1481328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119122" y="1828800"/>
            <a:ext cx="548640" cy="548640"/>
          </a:xfrm>
          <a:prstGeom prst="line">
            <a:avLst/>
          </a:prstGeom>
          <a:solidFill>
            <a:srgbClr val="FFFFFF"/>
          </a:solidFill>
          <a:ln w="19050">
            <a:solidFill>
              <a:srgbClr val="0B1E3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8850" y="193852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18132" y="246888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Catalog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863852" y="2788920"/>
            <a:ext cx="1059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brand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category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±1.000 items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005328" y="2308860"/>
            <a:ext cx="228600" cy="274320"/>
          </a:xfrm>
          <a:prstGeom prst="chevron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70504" y="1371600"/>
            <a:ext cx="1150620" cy="21488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70504" y="1481328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571494" y="1828800"/>
            <a:ext cx="548640" cy="548640"/>
          </a:xfrm>
          <a:prstGeom prst="line">
            <a:avLst/>
          </a:prstGeom>
          <a:solidFill>
            <a:srgbClr val="FFFFFF"/>
          </a:solidFill>
          <a:ln w="19050">
            <a:solidFill>
              <a:srgbClr val="0B1E3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1222" y="193852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270504" y="246888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316224" y="2788920"/>
            <a:ext cx="1059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brand info,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status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457700" y="2308860"/>
            <a:ext cx="228600" cy="274320"/>
          </a:xfrm>
          <a:prstGeom prst="chevron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722876" y="1371600"/>
            <a:ext cx="1150620" cy="2148840"/>
          </a:xfrm>
          <a:prstGeom prst="rect">
            <a:avLst/>
          </a:prstGeom>
          <a:solidFill>
            <a:srgbClr val="0B1E3F"/>
          </a:solidFill>
          <a:ln w="25400">
            <a:solidFill>
              <a:srgbClr val="F2A51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22876" y="1481328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023866" y="1828800"/>
            <a:ext cx="548640" cy="548640"/>
          </a:xfrm>
          <a:prstGeom prst="line">
            <a:avLst/>
          </a:prstGeom>
          <a:solidFill>
            <a:srgbClr val="F2A516"/>
          </a:solidFill>
          <a:ln w="19050">
            <a:solidFill>
              <a:srgbClr val="F2A516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3594" y="193852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22876" y="246888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Inquiry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768596" y="2788920"/>
            <a:ext cx="1059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inquiry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product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WhatsApp CTA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5910072" y="2308860"/>
            <a:ext cx="228600" cy="274320"/>
          </a:xfrm>
          <a:prstGeom prst="chevron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175248" y="1371600"/>
            <a:ext cx="1150620" cy="21488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75248" y="1481328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6476238" y="1828800"/>
            <a:ext cx="548640" cy="548640"/>
          </a:xfrm>
          <a:prstGeom prst="line">
            <a:avLst/>
          </a:prstGeom>
          <a:solidFill>
            <a:srgbClr val="FFFFFF"/>
          </a:solidFill>
          <a:ln w="19050">
            <a:solidFill>
              <a:srgbClr val="0B1E3F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5966" y="1938528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175248" y="246888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Response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220968" y="2788920"/>
            <a:ext cx="1059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 email + WA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tim sales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&amp; follow-up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7362444" y="2308860"/>
            <a:ext cx="228600" cy="274320"/>
          </a:xfrm>
          <a:prstGeom prst="chevron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627620" y="1371600"/>
            <a:ext cx="1150620" cy="2148840"/>
          </a:xfrm>
          <a:prstGeom prst="rect">
            <a:avLst/>
          </a:prstGeom>
          <a:solidFill>
            <a:srgbClr val="F7F8FA"/>
          </a:solidFill>
          <a:ln w="9525">
            <a:solidFill>
              <a:srgbClr val="E2E6EE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627620" y="1481328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928610" y="1828800"/>
            <a:ext cx="548640" cy="548640"/>
          </a:xfrm>
          <a:prstGeom prst="line">
            <a:avLst/>
          </a:prstGeom>
          <a:solidFill>
            <a:srgbClr val="FFFFFF"/>
          </a:solidFill>
          <a:ln w="19050">
            <a:solidFill>
              <a:srgbClr val="0B1E3F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8338" y="1938528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7627620" y="246888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Closed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7673340" y="2788920"/>
            <a:ext cx="10591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fulfillment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repeat client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4722876" y="3749040"/>
            <a:ext cx="1150620" cy="27432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722876" y="3749040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CONVERSION POINT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E6ECF5"/>
          </a:solidFill>
          <a:ln w="6350">
            <a:solidFill>
              <a:srgbClr val="E2E6EE"/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4334256"/>
            <a:ext cx="274320" cy="27432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868680" y="425196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 capture dual-channel: </a:t>
            </a:r>
            <a:r>
              <a:rPr lang="en-US" sz="10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inquiry tertracked di admin panel + tombol WhatsApp untuk respon cepat → satu sales pipeline yang sama.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93776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6002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untuk desktop, tablet, dan mobile.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7627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21305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CMS + Custom Theme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68680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 mudah dikelola internal tim Fortis.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0662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6609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Engine (±1.000 Item)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68680" y="28895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listing, filter, search, detail page, pagination.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3697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1912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Flow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868680" y="3419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inquiry per produk → notifikasi email + WhatsApp deep link.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76732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7216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SEO Setup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68680" y="3950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sitemap XML, schema organization, robots.txt.</a:t>
            </a:r>
            <a:endParaRPr lang="en-US" sz="9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4297680"/>
            <a:ext cx="274320" cy="27432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8680" y="4251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Infrastructure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868680" y="4480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(HTTPS) + basic hardening + SSL domain .co.id/.com.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5486400" y="1051560"/>
            <a:ext cx="32918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548640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Category Strategy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5486400" y="1554480"/>
            <a:ext cx="3291840" cy="283464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1700784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870448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(Maintenance, Repair, Operating Supplies)</a:t>
            </a:r>
            <a:endParaRPr lang="en-US" sz="95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2066544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870448" y="2029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Protective Equipment (PPE)</a:t>
            </a:r>
            <a:endParaRPr lang="en-US" sz="95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2432304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870448" y="23957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Electro Mechanical Parts</a:t>
            </a:r>
            <a:endParaRPr lang="en-US" sz="95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2798064"/>
            <a:ext cx="201168" cy="20116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870448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Fleet &amp; Parts</a:t>
            </a:r>
            <a:endParaRPr lang="en-US" sz="95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163824"/>
            <a:ext cx="201168" cy="20116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5870448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 &amp; Fluid Transfer</a:t>
            </a:r>
            <a:endParaRPr lang="en-US" sz="95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529584"/>
            <a:ext cx="201168" cy="20116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5870448" y="3493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Security Equipment</a:t>
            </a:r>
            <a:endParaRPr lang="en-US" sz="95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3560" y="3895344"/>
            <a:ext cx="201168" cy="201168"/>
          </a:xfrm>
          <a:prstGeom prst="rect">
            <a:avLst/>
          </a:prstGeom>
        </p:spPr>
      </p:pic>
      <p:sp>
        <p:nvSpPr>
          <p:cNvPr id="40" name="Text 25"/>
          <p:cNvSpPr/>
          <p:nvPr/>
        </p:nvSpPr>
        <p:spPr>
          <a:xfrm>
            <a:off x="5870448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Lease &amp; Sale</a:t>
            </a:r>
            <a:endParaRPr lang="en-US" sz="950" dirty="0"/>
          </a:p>
        </p:txBody>
      </p:sp>
      <p:sp>
        <p:nvSpPr>
          <p:cNvPr id="41" name="Text 26"/>
          <p:cNvSpPr/>
          <p:nvPr/>
        </p:nvSpPr>
        <p:spPr>
          <a:xfrm>
            <a:off x="548640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Multi-bahasa tidak termasuk dalam scope saat ini — dapat ditambahkan sebagai Phase 2.</a:t>
            </a:r>
            <a:endParaRPr lang="en-US" sz="850" dirty="0"/>
          </a:p>
        </p:txBody>
      </p:sp>
      <p:sp>
        <p:nvSpPr>
          <p:cNvPr id="42" name="Shape 27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43" name="Text 28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44" name="Text 29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45" name="Text 30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Asset Requirement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harus menyiapkan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5544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Fortis (HD + vector/SVG)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659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9202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perusahaan terkini (sumber dokumen template sudah tersedia)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331720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2286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kantor Cityloft Sudirman &amp; aktivitas operasional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" y="26517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produk untuk katalog (±1.000 item: nama, brand, kategori, deskripsi, gambar)</a:t>
            </a:r>
            <a:endParaRPr lang="en-US" sz="9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63240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7240" y="30175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lengkap brand principal (MRO + PPE) dengan logo resmi</a:t>
            </a:r>
            <a:endParaRPr lang="en-US" sz="9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429000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77240" y="338328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referensi brand (SKF, 3M, Honeywell, dll) dengan approval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0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77240" y="374904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kontak resmi, WhatsApp sales, dan email inquiry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60520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77240" y="41148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domain/hosting (jika reuse yang existing www.fortisprima.com)</a:t>
            </a:r>
            <a:endParaRPr lang="en-US" sz="950" dirty="0"/>
          </a:p>
        </p:txBody>
      </p:sp>
      <p:sp>
        <p:nvSpPr>
          <p:cNvPr id="22" name="Shape 12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3" name="Text 13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Data Belum Lengkap</a:t>
            </a:r>
            <a:endParaRPr lang="en-US" sz="1300" dirty="0"/>
          </a:p>
        </p:txBody>
      </p:sp>
      <p:sp>
        <p:nvSpPr>
          <p:cNvPr id="24" name="Shape 14"/>
          <p:cNvSpPr/>
          <p:nvPr/>
        </p:nvSpPr>
        <p:spPr>
          <a:xfrm>
            <a:off x="4754880" y="1554480"/>
            <a:ext cx="4023360" cy="3154680"/>
          </a:xfrm>
          <a:prstGeom prst="rect">
            <a:avLst/>
          </a:prstGeom>
          <a:solidFill>
            <a:srgbClr val="E6ECF5"/>
          </a:solidFill>
          <a:ln w="6350">
            <a:solidFill>
              <a:srgbClr val="E2E6EE"/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48920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Apabila sebagian data belum tersedia, langkah yang dapat dilakukan: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76272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12080" y="21031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Dokumen Template</a:t>
            </a:r>
            <a:endParaRPr lang="en-US" sz="1050" dirty="0"/>
          </a:p>
        </p:txBody>
      </p:sp>
      <p:sp>
        <p:nvSpPr>
          <p:cNvPr id="28" name="Text 17"/>
          <p:cNvSpPr/>
          <p:nvPr/>
        </p:nvSpPr>
        <p:spPr>
          <a:xfrm>
            <a:off x="5212080" y="23408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Narasi diambil dari FORTIS_PRIMA_SOLUSI_Website_Template sebagai baseline konten.</a:t>
            </a:r>
            <a:endParaRPr lang="en-US" sz="9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16352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212080" y="27432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Bertahap</a:t>
            </a:r>
            <a:endParaRPr lang="en-US" sz="1050" dirty="0"/>
          </a:p>
        </p:txBody>
      </p:sp>
      <p:sp>
        <p:nvSpPr>
          <p:cNvPr id="31" name="Text 19"/>
          <p:cNvSpPr/>
          <p:nvPr/>
        </p:nvSpPr>
        <p:spPr>
          <a:xfrm>
            <a:off x="5212080" y="2980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100–200 produk unggulan dulu; sisa ±1.000 item di-import bertahap via CSV.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56432"/>
            <a:ext cx="228600" cy="22860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5212080" y="33832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Dummy Sementara</a:t>
            </a:r>
            <a:endParaRPr lang="en-US" sz="1050" dirty="0"/>
          </a:p>
        </p:txBody>
      </p:sp>
      <p:sp>
        <p:nvSpPr>
          <p:cNvPr id="34" name="Text 21"/>
          <p:cNvSpPr/>
          <p:nvPr/>
        </p:nvSpPr>
        <p:spPr>
          <a:xfrm>
            <a:off x="5212080" y="3621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produk &amp; foto fasilitas pakai placeholder hingga aset asli tersedia.</a:t>
            </a:r>
            <a:endParaRPr lang="en-US" sz="9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096512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5212080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Konten Pasca-Live</a:t>
            </a:r>
            <a:endParaRPr lang="en-US" sz="1050" dirty="0"/>
          </a:p>
        </p:txBody>
      </p:sp>
      <p:sp>
        <p:nvSpPr>
          <p:cNvPr id="37" name="Text 23"/>
          <p:cNvSpPr/>
          <p:nvPr/>
        </p:nvSpPr>
        <p:spPr>
          <a:xfrm>
            <a:off x="5212080" y="4261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tetap bisa launch on-time; konten di-refresh berkala via admin panel.</a:t>
            </a:r>
            <a:endParaRPr lang="en-US" sz="900" dirty="0"/>
          </a:p>
        </p:txBody>
      </p:sp>
      <p:sp>
        <p:nvSpPr>
          <p:cNvPr id="38" name="Shape 24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40" name="Text 26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41" name="Text 27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Risk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50392"/>
            <a:ext cx="1188720" cy="0"/>
          </a:xfrm>
          <a:prstGeom prst="line">
            <a:avLst/>
          </a:prstGeom>
          <a:noFill/>
          <a:ln w="31750">
            <a:solidFill>
              <a:srgbClr val="F2A5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93776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(±10 Minggu)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74320" cy="274320"/>
          </a:xfrm>
          <a:prstGeom prst="lin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 Infrastructure   </a:t>
            </a:r>
            <a:r>
              <a:rPr lang="en-US" sz="1000" b="1" i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013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Kontrak, DP, domain, hosting, SSL aktif.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74320" cy="274320"/>
          </a:xfrm>
          <a:prstGeom prst="lin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1031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(Figma)   </a:t>
            </a:r>
            <a:r>
              <a:rPr lang="en-US" sz="1000" b="1" i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2–3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3042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seluruh halaman utama, approval klien.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74320" cy="274320"/>
          </a:xfrm>
          <a:prstGeom prst="lin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606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Development   </a:t>
            </a:r>
            <a:r>
              <a:rPr lang="en-US" sz="1000" b="1" i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4–5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8072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Beranda, About, Contact — responsive.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274320" cy="274320"/>
          </a:xfrm>
          <a:prstGeom prst="lin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1089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Admin Panel   </a:t>
            </a:r>
            <a:r>
              <a:rPr lang="en-US" sz="1000" b="1" i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5–7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produk, filter, detail, CMS.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74320" cy="274320"/>
          </a:xfrm>
          <a:prstGeom prst="lin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611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 &amp; Integrasi   </a:t>
            </a:r>
            <a:r>
              <a:rPr lang="en-US" sz="1000" b="1" i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7–8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8130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produk, inquiry + WA, video embed.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274320" cy="274320"/>
          </a:xfrm>
          <a:prstGeom prst="line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11480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Launch &amp; Training   </a:t>
            </a:r>
            <a:r>
              <a:rPr lang="en-US" sz="1000" b="1" i="1" dirty="0">
                <a:solidFill>
                  <a:srgbClr val="C98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9–10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43159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cross-device, go-live, training admin.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1051560"/>
            <a:ext cx="3291840" cy="36576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0" y="1554480"/>
            <a:ext cx="3291840" cy="1417320"/>
          </a:xfrm>
          <a:prstGeom prst="rect">
            <a:avLst/>
          </a:prstGeom>
          <a:solidFill>
            <a:srgbClr val="FEF3E6"/>
          </a:solidFill>
          <a:ln w="6350">
            <a:solidFill>
              <a:srgbClr val="F2A5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15000" y="18745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Keterlambatan data produk (±1.000 item)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desain memakan waktu lebih panjang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gambar &amp; deskripsi produk belum lengkap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(permintaan di luar paket)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3108960"/>
            <a:ext cx="3291840" cy="1554480"/>
          </a:xfrm>
          <a:prstGeom prst="rect">
            <a:avLst/>
          </a:prstGeom>
          <a:solidFill>
            <a:srgbClr val="E8F5EE"/>
          </a:solidFill>
          <a:ln w="6350">
            <a:solidFill>
              <a:srgbClr val="2E7D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32004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15000" y="34290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 bertahap + template CSV disediakan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PIC approval dari pihak Fortis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Dummy content &amp; placeholder image sementara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dikunci sejak awal, add-on ter-dokumentasi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 desain maks. 2 putaran per halaman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796028"/>
            <a:ext cx="8412480" cy="0"/>
          </a:xfrm>
          <a:prstGeom prst="line">
            <a:avLst/>
          </a:prstGeom>
          <a:noFill/>
          <a:ln w="9525">
            <a:solidFill>
              <a:srgbClr val="F2A5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417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Banana Digital Boost – Pitching Deck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6080" y="48417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confidential and intended solely for the use of Banana Digital Boost.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458200" y="48417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3F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2A516"/>
          </a:solidFill>
          <a:ln w="12700">
            <a:solidFill>
              <a:srgbClr val="F2A5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A5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READY TO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Kick Start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Achievement!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0"/>
          </a:xfrm>
          <a:prstGeom prst="line">
            <a:avLst/>
          </a:prstGeom>
          <a:noFill/>
          <a:ln w="25400">
            <a:solidFill>
              <a:srgbClr val="F2A5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brief · Align scope · Start Phase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 Digital Boost   |   Pitching Deck — PT Fortis Prima Solusi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2065</Words>
  <Application>Microsoft Office PowerPoint</Application>
  <PresentationFormat>On-screen Show (16:9)</PresentationFormat>
  <Paragraphs>359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Banana Digital Boost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Website Strategy — PT Fortis Prima Solusi</dc:title>
  <dc:subject>PptxGenJS Presentation</dc:subject>
  <dc:creator>Banana Digital Boost</dc:creator>
  <cp:lastModifiedBy>Dzikri Ramadhan</cp:lastModifiedBy>
  <cp:revision>2</cp:revision>
  <dcterms:created xsi:type="dcterms:W3CDTF">2026-04-21T08:53:48Z</dcterms:created>
  <dcterms:modified xsi:type="dcterms:W3CDTF">2026-04-22T02:57:59Z</dcterms:modified>
</cp:coreProperties>
</file>